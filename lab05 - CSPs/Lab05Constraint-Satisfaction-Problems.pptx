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Montserrat Light" panose="00000400000000000000" pitchFamily="2" charset="0"/>
      <p:regular r:id="rId13"/>
    </p:embeddedFont>
    <p:embeddedFont>
      <p:font typeface="Source Sans 3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726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175623"/>
            <a:ext cx="7416403" cy="4206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0"/>
              </a:lnSpc>
              <a:buNone/>
            </a:pPr>
            <a:r>
              <a:rPr lang="en-US" sz="8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Constraint Satisfaction Problems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6350198" y="5752743"/>
            <a:ext cx="6455807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Graph Coloring &amp; N-Queens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350198" y="6683812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Khám phá các thuật toán giải quyết bài toán tối ưu hóa cổ điển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769269"/>
            <a:ext cx="6840855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Bài Toán Tô Màu Đồ Thị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63798" y="2840712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Gán màu cho các đỉnh sao cho hai đỉnh kề nhau không cùng màu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63798" y="3488531"/>
            <a:ext cx="3584734" cy="1362432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/>
        </p:spPr>
      </p:sp>
      <p:sp>
        <p:nvSpPr>
          <p:cNvPr id="6" name="Text 3"/>
          <p:cNvSpPr/>
          <p:nvPr/>
        </p:nvSpPr>
        <p:spPr>
          <a:xfrm>
            <a:off x="1110615" y="373534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Input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10615" y="4233982"/>
            <a:ext cx="309110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Đồ thị G = (V, E) và tập màu C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695349" y="3488531"/>
            <a:ext cx="3584853" cy="1362432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/>
        </p:spPr>
      </p:sp>
      <p:sp>
        <p:nvSpPr>
          <p:cNvPr id="9" name="Text 6"/>
          <p:cNvSpPr/>
          <p:nvPr/>
        </p:nvSpPr>
        <p:spPr>
          <a:xfrm>
            <a:off x="4942165" y="373534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Output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42165" y="4233982"/>
            <a:ext cx="309122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Ánh xạ f: V → C thỏa ràng buộc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63798" y="5097780"/>
            <a:ext cx="7416403" cy="1362432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/>
        </p:spPr>
      </p:sp>
      <p:sp>
        <p:nvSpPr>
          <p:cNvPr id="12" name="Text 9"/>
          <p:cNvSpPr/>
          <p:nvPr/>
        </p:nvSpPr>
        <p:spPr>
          <a:xfrm>
            <a:off x="1110615" y="534459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Ứng dụng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110615" y="5843230"/>
            <a:ext cx="692277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Lập lịch, phân bổ tài nguyên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007031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 Phương Pháp Giải Quyết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798" y="2779752"/>
            <a:ext cx="1234083" cy="14808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344698" y="302656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Backtracking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344698" y="3525203"/>
            <a:ext cx="5935504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Duyệt toàn bộ không gian, quay lui khi vi phạm ràng buộc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798" y="4260652"/>
            <a:ext cx="1234083" cy="148089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344698" y="450746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Forward Checking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344698" y="5006102"/>
            <a:ext cx="5935504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Loại trừ sớm giá trị không hợp lệ, giảm phép thử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798" y="5741551"/>
            <a:ext cx="1234083" cy="148089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344698" y="598836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Hill Climbing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344698" y="6487001"/>
            <a:ext cx="5935504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Tối ưu cục bộ từ lời giải ngẫu nhiên, giảm xung đột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162645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Kết Quả Thực Nghiệm: Graph Coloring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63798" y="2935367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 sánh 3 thuật toán trên đồ thị 10-25 đỉnh với 3-4 màu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3798" y="3706535"/>
            <a:ext cx="2266474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863798" y="4829413"/>
            <a:ext cx="2266474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Forward Checking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63798" y="5678686"/>
            <a:ext cx="2266474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Phép gán tối thiểu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438763" y="3706535"/>
            <a:ext cx="2266474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2874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3438763" y="4829413"/>
            <a:ext cx="22664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Backtracking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438763" y="5328047"/>
            <a:ext cx="2266474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Phép gán (15 đỉnh)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013728" y="3706535"/>
            <a:ext cx="2266474" cy="814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10000</a:t>
            </a:r>
            <a:endParaRPr lang="en-US" sz="6400" dirty="0"/>
          </a:p>
        </p:txBody>
      </p:sp>
      <p:sp>
        <p:nvSpPr>
          <p:cNvPr id="12" name="Text 9"/>
          <p:cNvSpPr/>
          <p:nvPr/>
        </p:nvSpPr>
        <p:spPr>
          <a:xfrm>
            <a:off x="6013728" y="4829413"/>
            <a:ext cx="22664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Hill Climbing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013728" y="5328047"/>
            <a:ext cx="2266474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Bước tối đa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63798" y="6326505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Nhận xét: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Forward Checking giảm đáng kể phép gán nhờ cắt tỉa sớm. Hill Climbing nhanh nhưng không đảm bảo tối ưu.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148245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Bài Toán N-Queens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50198" y="3219688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Đặt N quân hậu trên bàn cờ N×N sao cho không tấn công nhau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198" y="4114324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Ràng Buộc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350198" y="4711779"/>
            <a:ext cx="34070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Không ngang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350198" y="5168265"/>
            <a:ext cx="34070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Không dọc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350198" y="5624751"/>
            <a:ext cx="34070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Không chéo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367129" y="4114324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Độ Phức Tạp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367129" y="4711779"/>
            <a:ext cx="34070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Tăng theo hàm mũ với N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367129" y="5303996"/>
            <a:ext cx="34070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N=8: 92 lời giải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84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6157" y="539115"/>
            <a:ext cx="7771686" cy="1113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Thuật Toán Hill Climbing cho N-Queens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86157" y="1946910"/>
            <a:ext cx="195977" cy="24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86157" y="2257187"/>
            <a:ext cx="7771686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86157" y="2400895"/>
            <a:ext cx="2227898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Khởi Tạo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86157" y="2796897"/>
            <a:ext cx="7771686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Đặt ngẫu nhiên N quân hậu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6157" y="3434001"/>
            <a:ext cx="195977" cy="24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6157" y="3744278"/>
            <a:ext cx="7771686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686157" y="3887986"/>
            <a:ext cx="2227898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Tính Xung Đột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86157" y="4283988"/>
            <a:ext cx="7771686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Đếm cặp quân hậu tấn công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6157" y="4921091"/>
            <a:ext cx="195977" cy="24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86157" y="5231368"/>
            <a:ext cx="7771686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686157" y="5375077"/>
            <a:ext cx="2227898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Cải Thiện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86157" y="5771078"/>
            <a:ext cx="7771686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 chuyển quân để giảm xung đột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86157" y="6408182"/>
            <a:ext cx="195977" cy="245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86157" y="6718459"/>
            <a:ext cx="7771686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686157" y="6862167"/>
            <a:ext cx="2227898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Lặp Lại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686157" y="7258169"/>
            <a:ext cx="7771686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Cho đến khi không còn xung đột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150739"/>
            <a:ext cx="10300454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 Sánh Các Biến Thể Hill Climbing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345650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Hiệu suất trên bàn cờ 4×4 và 8×8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3798" y="2993469"/>
            <a:ext cx="12902803" cy="3437453"/>
          </a:xfrm>
          <a:prstGeom prst="roundRect">
            <a:avLst>
              <a:gd name="adj" fmla="val 1077"/>
            </a:avLst>
          </a:prstGeom>
          <a:noFill/>
          <a:ln w="1524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9038" y="3008709"/>
            <a:ext cx="12872323" cy="6813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26093" y="3164324"/>
            <a:ext cx="272057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Thuật Toán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47924" y="3164324"/>
            <a:ext cx="271676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N=4 (%)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65946" y="3164324"/>
            <a:ext cx="271676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N=8 (%)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783967" y="3164324"/>
            <a:ext cx="272057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Thời Gian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79038" y="3690104"/>
            <a:ext cx="12872323" cy="68139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26093" y="3845719"/>
            <a:ext cx="272057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Steepest HC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347924" y="3845719"/>
            <a:ext cx="271676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48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565946" y="3845719"/>
            <a:ext cx="271676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783967" y="3845719"/>
            <a:ext cx="272057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0.003s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79038" y="4371499"/>
            <a:ext cx="12872323" cy="6813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26093" y="4527113"/>
            <a:ext cx="272057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Stochastic HC 1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347924" y="4527113"/>
            <a:ext cx="271676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565946" y="4527113"/>
            <a:ext cx="271676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21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783967" y="4527113"/>
            <a:ext cx="272057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0.003s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879038" y="5052893"/>
            <a:ext cx="12872323" cy="68139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26093" y="5208508"/>
            <a:ext cx="272057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Stochastic HC 2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347924" y="5208508"/>
            <a:ext cx="271676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28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565946" y="5208508"/>
            <a:ext cx="271676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0783967" y="5208508"/>
            <a:ext cx="272057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0.004s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879038" y="5734288"/>
            <a:ext cx="12872323" cy="6813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126093" y="5889903"/>
            <a:ext cx="272057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Simulated Annealing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4347924" y="5889903"/>
            <a:ext cx="271676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89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565946" y="5889903"/>
            <a:ext cx="271676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0783967" y="5889903"/>
            <a:ext cx="272057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0.010s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863798" y="6708577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Kết Luận: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Simulated Annealing tốt nhất cho N=4. Tất cả giảm hiệu suất khi N tăng.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35474"/>
            <a:ext cx="12570500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Simulated Annealing: Thoát Cực Trị Cục Bộ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130385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Chấp nhận bước tệ hơn với xác suất giảm dần theo nhiệt độ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758672" y="460176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Nhiệt Độ Cao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3798" y="5100399"/>
            <a:ext cx="369974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Chấp nhận bước tệ</a:t>
            </a:r>
            <a:endParaRPr lang="en-US" sz="1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180" y="2778204"/>
            <a:ext cx="4515922" cy="451592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3435" y="4579739"/>
            <a:ext cx="369213" cy="3692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43267" y="3380184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Làm Mát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43267" y="3878818"/>
            <a:ext cx="3823335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Giảm xác suất</a:t>
            </a:r>
            <a:endParaRPr lang="en-US" sz="1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7180" y="2778204"/>
            <a:ext cx="4515922" cy="451592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4232" y="3638907"/>
            <a:ext cx="369213" cy="3692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43267" y="582322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Nhiệt Độ Thấp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943267" y="6321862"/>
            <a:ext cx="3823335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Hội Tụ Tối Ưu</a:t>
            </a:r>
            <a:endParaRPr lang="en-US" sz="19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7180" y="2778204"/>
            <a:ext cx="4515922" cy="451592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73578" y="6335792"/>
            <a:ext cx="369213" cy="3692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56" y="409575"/>
            <a:ext cx="5810607" cy="42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Tối Ưu Hóa Tính Toán: Numba JIT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21256" y="1130498"/>
            <a:ext cx="13587889" cy="22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Tăng tốc hàm tính xung đột từ O(n²) xuống O(n)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1256" y="1595795"/>
            <a:ext cx="3946565" cy="186095"/>
          </a:xfrm>
          <a:prstGeom prst="roundRect">
            <a:avLst>
              <a:gd name="adj" fmla="val 12006"/>
            </a:avLst>
          </a:prstGeom>
          <a:solidFill>
            <a:srgbClr val="303132"/>
          </a:solidFill>
          <a:ln/>
        </p:spPr>
      </p:sp>
      <p:sp>
        <p:nvSpPr>
          <p:cNvPr id="5" name="Shape 3"/>
          <p:cNvSpPr/>
          <p:nvPr/>
        </p:nvSpPr>
        <p:spPr>
          <a:xfrm>
            <a:off x="521256" y="1595795"/>
            <a:ext cx="2762488" cy="186095"/>
          </a:xfrm>
          <a:prstGeom prst="roundRect">
            <a:avLst>
              <a:gd name="adj" fmla="val 1200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9501" y="1595795"/>
            <a:ext cx="346948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70x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21256" y="1967984"/>
            <a:ext cx="1692592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JIT vs Naive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56" y="2268855"/>
            <a:ext cx="4405193" cy="22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Nhanh hơn 70 lần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112544" y="1595795"/>
            <a:ext cx="3950613" cy="186095"/>
          </a:xfrm>
          <a:prstGeom prst="roundRect">
            <a:avLst>
              <a:gd name="adj" fmla="val 12006"/>
            </a:avLst>
          </a:prstGeom>
          <a:solidFill>
            <a:srgbClr val="303132"/>
          </a:solidFill>
          <a:ln/>
        </p:spPr>
      </p:sp>
      <p:sp>
        <p:nvSpPr>
          <p:cNvPr id="10" name="Shape 8"/>
          <p:cNvSpPr/>
          <p:nvPr/>
        </p:nvSpPr>
        <p:spPr>
          <a:xfrm>
            <a:off x="5112544" y="1595795"/>
            <a:ext cx="3120866" cy="186095"/>
          </a:xfrm>
          <a:prstGeom prst="roundRect">
            <a:avLst>
              <a:gd name="adj" fmla="val 12006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174837" y="1595795"/>
            <a:ext cx="342900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79x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112544" y="1967984"/>
            <a:ext cx="1692592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JIT vs Linear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12544" y="2268855"/>
            <a:ext cx="4405193" cy="22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Nhanh hơn 79 lần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703832" y="1595795"/>
            <a:ext cx="3636645" cy="186095"/>
          </a:xfrm>
          <a:prstGeom prst="roundRect">
            <a:avLst>
              <a:gd name="adj" fmla="val 12006"/>
            </a:avLst>
          </a:prstGeom>
          <a:solidFill>
            <a:srgbClr val="303132"/>
          </a:solidFill>
          <a:ln/>
        </p:spPr>
      </p:sp>
      <p:sp>
        <p:nvSpPr>
          <p:cNvPr id="15" name="Shape 13"/>
          <p:cNvSpPr/>
          <p:nvPr/>
        </p:nvSpPr>
        <p:spPr>
          <a:xfrm>
            <a:off x="9703832" y="1595795"/>
            <a:ext cx="3636645" cy="186095"/>
          </a:xfrm>
          <a:prstGeom prst="roundRect">
            <a:avLst>
              <a:gd name="adj" fmla="val 12006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3452158" y="1595795"/>
            <a:ext cx="656987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300ms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703832" y="1967984"/>
            <a:ext cx="1692592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Naive (450×450)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03832" y="2268855"/>
            <a:ext cx="4405313" cy="22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 phút chạy</a:t>
            </a:r>
            <a:endParaRPr lang="en-US" sz="11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56" y="2827258"/>
            <a:ext cx="6612255" cy="6612255"/>
          </a:xfrm>
          <a:prstGeom prst="rect">
            <a:avLst/>
          </a:prstGeom>
        </p:spPr>
      </p:pic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4509" y="2827258"/>
            <a:ext cx="6612255" cy="66122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0570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5940" y="3729514"/>
            <a:ext cx="8443555" cy="69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Kết Luận &amp; Hướng Phát Triển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855940" y="4791075"/>
            <a:ext cx="4143137" cy="2125028"/>
          </a:xfrm>
          <a:prstGeom prst="roundRect">
            <a:avLst>
              <a:gd name="adj" fmla="val 1726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30975" y="5066109"/>
            <a:ext cx="3593068" cy="694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Forward Checking Tốt Nhất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130975" y="5907405"/>
            <a:ext cx="3593068" cy="733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Graph Coloring: 3 phép gán cho mọi kích thước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243632" y="4791075"/>
            <a:ext cx="4143137" cy="2125028"/>
          </a:xfrm>
          <a:prstGeom prst="roundRect">
            <a:avLst>
              <a:gd name="adj" fmla="val 1726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18666" y="5066109"/>
            <a:ext cx="3593068" cy="694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Simulated Annealing Linh Hoạt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5518666" y="5907405"/>
            <a:ext cx="3593068" cy="733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N-Queens: 89% thành công N=4, thoát cực trị cục bộ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631323" y="4791075"/>
            <a:ext cx="4143137" cy="2125028"/>
          </a:xfrm>
          <a:prstGeom prst="roundRect">
            <a:avLst>
              <a:gd name="adj" fmla="val 1726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906357" y="5066109"/>
            <a:ext cx="3593068" cy="694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JIT Compilation Thiết Yếu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9906357" y="5907405"/>
            <a:ext cx="3593068" cy="733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Numba: 70× nhanh hơn, xử lý bàn cờ 450×450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55940" y="7191137"/>
            <a:ext cx="12918519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Hướng Phát Triển: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Kết hợp các phương pháp, sử dụng GPU, áp dụng Machine Learning để chọn tham số tối ưu.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525</Words>
  <Application>Microsoft Office PowerPoint</Application>
  <PresentationFormat>Custom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Montserrat Bold</vt:lpstr>
      <vt:lpstr>Montserrat Light</vt:lpstr>
      <vt:lpstr>Source Sans 3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Hồ Ngọc Đăng Khoa</cp:lastModifiedBy>
  <cp:revision>2</cp:revision>
  <dcterms:created xsi:type="dcterms:W3CDTF">2025-10-21T13:58:42Z</dcterms:created>
  <dcterms:modified xsi:type="dcterms:W3CDTF">2025-10-21T14:01:24Z</dcterms:modified>
</cp:coreProperties>
</file>